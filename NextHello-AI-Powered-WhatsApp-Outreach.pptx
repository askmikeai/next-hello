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Syne"/>
      <p:regular r:id="rId19"/>
    </p:embeddedFont>
    <p:embeddedFont>
      <p:font typeface="Syne"/>
      <p:regular r:id="rId20"/>
    </p:embeddedFont>
    <p:embeddedFont>
      <p:font typeface="Overpass Light"/>
      <p:regular r:id="rId21"/>
    </p:embeddedFont>
    <p:embeddedFont>
      <p:font typeface="Overpass Light"/>
      <p:regular r:id="rId22"/>
    </p:embeddedFont>
    <p:embeddedFont>
      <p:font typeface="Overpass Light"/>
      <p:regular r:id="rId23"/>
    </p:embeddedFont>
    <p:embeddedFont>
      <p:font typeface="Overpass Ligh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qtVW4goCNnk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skmikeai/next-hello" TargetMode="External"/><Relationship Id="rId5" Type="http://schemas.openxmlformats.org/officeDocument/2006/relationships/hyperlink" Target="https://github.com/askmikeai/next-hello" TargetMode="External"/><Relationship Id="rId12" Type="http://schemas.openxmlformats.org/officeDocument/2006/relationships/hyperlink" Target="https://x.com/askmikeai" TargetMode="External"/><Relationship Id="rId15" Type="http://schemas.openxmlformats.org/officeDocument/2006/relationships/hyperlink" Target="https://instagram.com/askmikeai" TargetMode="External"/><Relationship Id="rId18" Type="http://schemas.openxmlformats.org/officeDocument/2006/relationships/hyperlink" Target="https://tiktok.com/@askmikeai" TargetMode="Externa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6" Type="http://schemas.openxmlformats.org/officeDocument/2006/relationships/image" Target="../media/image-12-4.png"/><Relationship Id="rId7" Type="http://schemas.openxmlformats.org/officeDocument/2006/relationships/image" Target="../media/image-12-5.svg"/><Relationship Id="rId8" Type="http://schemas.openxmlformats.org/officeDocument/2006/relationships/image" Target="../media/image-12-6.png"/><Relationship Id="rId9" Type="http://schemas.openxmlformats.org/officeDocument/2006/relationships/image" Target="../media/image-12-7.svg"/><Relationship Id="rId10" Type="http://schemas.openxmlformats.org/officeDocument/2006/relationships/image" Target="../media/image-12-8.png"/><Relationship Id="rId11" Type="http://schemas.openxmlformats.org/officeDocument/2006/relationships/image" Target="../media/image-12-9.svg"/><Relationship Id="rId13" Type="http://schemas.openxmlformats.org/officeDocument/2006/relationships/image" Target="../media/image-12-10.png"/><Relationship Id="rId14" Type="http://schemas.openxmlformats.org/officeDocument/2006/relationships/image" Target="../media/image-12-11.svg"/><Relationship Id="rId16" Type="http://schemas.openxmlformats.org/officeDocument/2006/relationships/image" Target="../media/image-12-12.png"/><Relationship Id="rId17" Type="http://schemas.openxmlformats.org/officeDocument/2006/relationships/image" Target="../media/image-12-13.svg"/><Relationship Id="rId19" Type="http://schemas.openxmlformats.org/officeDocument/2006/relationships/slideLayout" Target="../slideLayouts/slideLayout13.xml"/><Relationship Id="rId2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502" y="623768"/>
            <a:ext cx="7594997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NextHello: AI-Powered WhatsApp Outreach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74502" y="2330529"/>
            <a:ext cx="7594997" cy="1049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Real-time multi-agent orchestration powered by OpenClaw reasoning and content generation — built for teams managing follow-ups who need consistency and scale.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02" y="3622715"/>
            <a:ext cx="1106448" cy="11064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96810" y="3622715"/>
            <a:ext cx="2930723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Multi-Agent Swarm</a:t>
            </a:r>
            <a:endParaRPr lang="en-US" sz="2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02" y="4950381"/>
            <a:ext cx="1106448" cy="11064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96810" y="4950381"/>
            <a:ext cx="3445193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OpenClaw Intelligence</a:t>
            </a:r>
            <a:endParaRPr lang="en-US" sz="21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02" y="6278047"/>
            <a:ext cx="1106448" cy="11064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96810" y="6278047"/>
            <a:ext cx="2781062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WhatsApp-Native</a:t>
            </a:r>
            <a:endParaRPr lang="en-US" sz="2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33174"/>
            <a:ext cx="6270069" cy="70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28769" y="1678305"/>
            <a:ext cx="6573441" cy="5918002"/>
          </a:xfrm>
          <a:prstGeom prst="roundRect">
            <a:avLst>
              <a:gd name="adj" fmla="val 2752"/>
            </a:avLst>
          </a:prstGeom>
          <a:solidFill>
            <a:srgbClr val="224435"/>
          </a:solidFill>
          <a:ln/>
        </p:spPr>
      </p:sp>
      <p:sp>
        <p:nvSpPr>
          <p:cNvPr id="4" name="Text 2"/>
          <p:cNvSpPr/>
          <p:nvPr/>
        </p:nvSpPr>
        <p:spPr>
          <a:xfrm>
            <a:off x="854869" y="1903809"/>
            <a:ext cx="3786783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the Platform Does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4869" y="2482691"/>
            <a:ext cx="6121241" cy="2766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Ingests live WhatsApp conversations in real time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Orchestrates specialized AI agents across the full follow-up workflow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Uses OpenClaw for model inference and response generation</a:t>
            </a:r>
            <a:endParaRPr lang="en-US" sz="175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Persists every interaction for auditability and relationship sync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8688" y="1903809"/>
            <a:ext cx="3066336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Outcomes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98688" y="2510909"/>
            <a:ext cx="3011091" cy="2837140"/>
          </a:xfrm>
          <a:prstGeom prst="roundRect">
            <a:avLst>
              <a:gd name="adj" fmla="val 334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32408" y="2744629"/>
            <a:ext cx="2543651" cy="106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⚡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Faster Interaction Handling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32408" y="4030266"/>
            <a:ext cx="2543651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Automated first response in under 10 seconds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0835283" y="2510909"/>
            <a:ext cx="3011091" cy="2837140"/>
          </a:xfrm>
          <a:prstGeom prst="roundRect">
            <a:avLst>
              <a:gd name="adj" fmla="val 334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9002" y="2744629"/>
            <a:ext cx="2543651" cy="106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🎯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Personalization at Scale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069002" y="4030266"/>
            <a:ext cx="2543651" cy="108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Context-aware messaging for every contact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598688" y="5573554"/>
            <a:ext cx="6247686" cy="1769031"/>
          </a:xfrm>
          <a:prstGeom prst="roundRect">
            <a:avLst>
              <a:gd name="adj" fmla="val 5370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32408" y="5807273"/>
            <a:ext cx="4075152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🕐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Shorter Follow-Up Time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32408" y="6386155"/>
            <a:ext cx="5780246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Contact prioritization to outreach without manual handoffs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2681" y="1577935"/>
            <a:ext cx="8158639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Problem with Today's Follow-Up Workflows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2681" y="2588776"/>
            <a:ext cx="8158639" cy="766643"/>
          </a:xfrm>
          <a:prstGeom prst="roundRect">
            <a:avLst>
              <a:gd name="adj" fmla="val 9542"/>
            </a:avLst>
          </a:prstGeom>
          <a:solidFill>
            <a:srgbClr val="FFFD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7441" y="2588776"/>
            <a:ext cx="60960" cy="766643"/>
          </a:xfrm>
          <a:prstGeom prst="roundRect">
            <a:avLst>
              <a:gd name="adj" fmla="val 97001"/>
            </a:avLst>
          </a:prstGeom>
          <a:solidFill>
            <a:srgbClr val="224435"/>
          </a:solidFill>
          <a:ln/>
        </p:spPr>
      </p:sp>
      <p:sp>
        <p:nvSpPr>
          <p:cNvPr id="6" name="Text 3"/>
          <p:cNvSpPr/>
          <p:nvPr/>
        </p:nvSpPr>
        <p:spPr>
          <a:xfrm>
            <a:off x="694373" y="2744748"/>
            <a:ext cx="2935129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Slow Manual Response Cycles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4373" y="3017044"/>
            <a:ext cx="7800975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Teams manually track follow-ups across WhatsApp, losing engagement to faster, automated interactions.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2681" y="3442692"/>
            <a:ext cx="8158639" cy="766643"/>
          </a:xfrm>
          <a:prstGeom prst="roundRect">
            <a:avLst>
              <a:gd name="adj" fmla="val 9542"/>
            </a:avLst>
          </a:prstGeom>
          <a:solidFill>
            <a:srgbClr val="FFFD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7441" y="3442692"/>
            <a:ext cx="60960" cy="766643"/>
          </a:xfrm>
          <a:prstGeom prst="roundRect">
            <a:avLst>
              <a:gd name="adj" fmla="val 97001"/>
            </a:avLst>
          </a:prstGeom>
          <a:solidFill>
            <a:srgbClr val="224435"/>
          </a:solidFill>
          <a:ln/>
        </p:spPr>
      </p:sp>
      <p:sp>
        <p:nvSpPr>
          <p:cNvPr id="10" name="Text 7"/>
          <p:cNvSpPr/>
          <p:nvPr/>
        </p:nvSpPr>
        <p:spPr>
          <a:xfrm>
            <a:off x="694373" y="3598664"/>
            <a:ext cx="3293269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Inconsistent Contact Prioritization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4373" y="3870960"/>
            <a:ext cx="7800975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Relationship quality depends on manual effort — not on a reliable, repeatable process.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2681" y="4296608"/>
            <a:ext cx="8158639" cy="766643"/>
          </a:xfrm>
          <a:prstGeom prst="roundRect">
            <a:avLst>
              <a:gd name="adj" fmla="val 9542"/>
            </a:avLst>
          </a:prstGeom>
          <a:solidFill>
            <a:srgbClr val="FFFD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7441" y="4296608"/>
            <a:ext cx="60960" cy="766643"/>
          </a:xfrm>
          <a:prstGeom prst="roundRect">
            <a:avLst>
              <a:gd name="adj" fmla="val 97001"/>
            </a:avLst>
          </a:prstGeom>
          <a:solidFill>
            <a:srgbClr val="224435"/>
          </a:solidFill>
          <a:ln/>
        </p:spPr>
      </p:sp>
      <p:sp>
        <p:nvSpPr>
          <p:cNvPr id="14" name="Text 11"/>
          <p:cNvSpPr/>
          <p:nvPr/>
        </p:nvSpPr>
        <p:spPr>
          <a:xfrm>
            <a:off x="694373" y="4452580"/>
            <a:ext cx="1933932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Fragmented Tooling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94373" y="4724876"/>
            <a:ext cx="7800975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Personalization, media delivery, and relationship data updates live in separate, disconnected tools.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2681" y="5150525"/>
            <a:ext cx="8158639" cy="766643"/>
          </a:xfrm>
          <a:prstGeom prst="roundRect">
            <a:avLst>
              <a:gd name="adj" fmla="val 9542"/>
            </a:avLst>
          </a:prstGeom>
          <a:solidFill>
            <a:srgbClr val="FFFDE6"/>
          </a:solidFill>
          <a:ln w="15240">
            <a:solidFill>
              <a:srgbClr val="C3D4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7441" y="5150525"/>
            <a:ext cx="60960" cy="766643"/>
          </a:xfrm>
          <a:prstGeom prst="roundRect">
            <a:avLst>
              <a:gd name="adj" fmla="val 97001"/>
            </a:avLst>
          </a:prstGeom>
          <a:solidFill>
            <a:srgbClr val="224435"/>
          </a:solidFill>
          <a:ln/>
        </p:spPr>
      </p:sp>
      <p:sp>
        <p:nvSpPr>
          <p:cNvPr id="18" name="Text 15"/>
          <p:cNvSpPr/>
          <p:nvPr/>
        </p:nvSpPr>
        <p:spPr>
          <a:xfrm>
            <a:off x="694373" y="5306497"/>
            <a:ext cx="2487930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Zero Automation Visibility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94373" y="5578792"/>
            <a:ext cx="7800975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No clear audit trail of which follow-up action occurred, when, and why.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2681" y="6015395"/>
            <a:ext cx="8158639" cy="636151"/>
          </a:xfrm>
          <a:prstGeom prst="roundRect">
            <a:avLst>
              <a:gd name="adj" fmla="val 9295"/>
            </a:avLst>
          </a:prstGeom>
          <a:solidFill>
            <a:srgbClr val="CCE5D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6191250"/>
            <a:ext cx="175974" cy="1407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50119" y="6137791"/>
            <a:ext cx="7560469" cy="364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need: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One orchestrated system that reacts in real time, handles every follow-up workflow step, and logs everything for traceability.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722" y="524828"/>
            <a:ext cx="8520708" cy="587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Solution Architecture at a Glance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181" y="1424940"/>
            <a:ext cx="12877800" cy="55531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2733" y="5925041"/>
            <a:ext cx="2921534" cy="365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OpenClaw LLM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742733" y="4639566"/>
            <a:ext cx="2921534" cy="365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CrewAI Swarm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42733" y="3367076"/>
            <a:ext cx="2921534" cy="36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API Router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742733" y="2081601"/>
            <a:ext cx="2921534" cy="365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WhatsApp Ingest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22722" y="7153751"/>
            <a:ext cx="12984837" cy="55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Each layer has a single, well-defined responsibility — keeping the follow-up management system modular, observable, and easy to extend as requirements for relationship maintenance evolve.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2425" y="728782"/>
            <a:ext cx="2972872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Live Demo !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5818" y="1193840"/>
            <a:ext cx="1538645" cy="1538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12425" y="2802612"/>
            <a:ext cx="8205430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212425" y="3073837"/>
            <a:ext cx="2343507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336" y="3087886"/>
            <a:ext cx="2416612" cy="24797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3589" y="5637728"/>
            <a:ext cx="2938224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089469" y="3073837"/>
            <a:ext cx="2343507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212425" y="5932289"/>
            <a:ext cx="8205430" cy="1114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50"/>
              </a:lnSpc>
              <a:buNone/>
            </a:pPr>
            <a:r>
              <a:rPr lang="en-US" sz="7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305 427 7457</a:t>
            </a:r>
            <a:endParaRPr lang="en-US" sz="7000" dirty="0"/>
          </a:p>
        </p:txBody>
      </p:sp>
      <p:sp>
        <p:nvSpPr>
          <p:cNvPr id="10" name="Text 6"/>
          <p:cNvSpPr/>
          <p:nvPr/>
        </p:nvSpPr>
        <p:spPr>
          <a:xfrm>
            <a:off x="3212425" y="7140535"/>
            <a:ext cx="8205430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Please send a WhatsApp message to start.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212425" y="7355681"/>
            <a:ext cx="8205430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Scan the QR code or add us on WhatsApp to experience NextHello live and revolutionize your follow-up workflows.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4" y="765096"/>
            <a:ext cx="5261729" cy="65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Core Components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424" y="1797368"/>
            <a:ext cx="1370290" cy="8468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8424" y="2882979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WhatsApp Bridge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28424" y="3322677"/>
            <a:ext cx="3114318" cy="95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Message ingress and outbound delivery — the entry and exit point for every conversation.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463" y="1797368"/>
            <a:ext cx="1370290" cy="8468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81463" y="2882979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FastAPI Service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081463" y="3322677"/>
            <a:ext cx="3114318" cy="95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Orchestration endpoints and admin APIs that normalize, validate, and route all events.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501" y="1797368"/>
            <a:ext cx="1370290" cy="8468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34501" y="2882979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CrewAI Swarm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7434501" y="3322677"/>
            <a:ext cx="3114318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Autonomous agent lifecycle management — research, prioritize, personalize, and relationship-update in parallel.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539" y="1797368"/>
            <a:ext cx="1370290" cy="8468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7539" y="2882979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Layer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0787539" y="3322677"/>
            <a:ext cx="3114437" cy="95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PostgreSQL for durable history. Redis for low-latency swarm state. Both always in sync.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24" y="4981456"/>
            <a:ext cx="1370290" cy="8468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8424" y="6067068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Admin UI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728424" y="6506766"/>
            <a:ext cx="3114318" cy="95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React + ReactFlow + SSE live stream for real-time orchestration visualization.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5654" y="1129665"/>
            <a:ext cx="711398" cy="235148"/>
          </a:xfrm>
          <a:prstGeom prst="roundRect">
            <a:avLst>
              <a:gd name="adj" fmla="val 20458"/>
            </a:avLst>
          </a:prstGeom>
          <a:solidFill>
            <a:srgbClr val="DDEEE6"/>
          </a:solidFill>
          <a:ln/>
        </p:spPr>
      </p:sp>
      <p:sp>
        <p:nvSpPr>
          <p:cNvPr id="3" name="Text 1"/>
          <p:cNvSpPr/>
          <p:nvPr/>
        </p:nvSpPr>
        <p:spPr>
          <a:xfrm>
            <a:off x="2461498" y="1172528"/>
            <a:ext cx="539710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KEY SLIDE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75654" y="1400889"/>
            <a:ext cx="6731794" cy="447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How NextHello Talks to OpenClaw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375654" y="2074069"/>
            <a:ext cx="2333982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Inference Request 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5654" y="2399228"/>
            <a:ext cx="143113" cy="178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5654" y="2627233"/>
            <a:ext cx="4764881" cy="1524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8" name="Text 6"/>
          <p:cNvSpPr/>
          <p:nvPr/>
        </p:nvSpPr>
        <p:spPr>
          <a:xfrm>
            <a:off x="2375654" y="2729270"/>
            <a:ext cx="178962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Message Arrives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5654" y="3043237"/>
            <a:ext cx="4764881" cy="37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Contact message received from WhatsApp; coordinator emits event to relevant agent.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5654" y="3614499"/>
            <a:ext cx="143113" cy="178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5654" y="3842504"/>
            <a:ext cx="4764881" cy="1524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2" name="Text 10"/>
          <p:cNvSpPr/>
          <p:nvPr/>
        </p:nvSpPr>
        <p:spPr>
          <a:xfrm>
            <a:off x="2375654" y="3944541"/>
            <a:ext cx="1801297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Context Assembly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5654" y="4258508"/>
            <a:ext cx="4764881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Agent builds prompt from conversation state + contact enrichment fields.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5654" y="4642961"/>
            <a:ext cx="143113" cy="178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5654" y="4870966"/>
            <a:ext cx="4764881" cy="1524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6" name="Text 14"/>
          <p:cNvSpPr/>
          <p:nvPr/>
        </p:nvSpPr>
        <p:spPr>
          <a:xfrm>
            <a:off x="2375654" y="4973003"/>
            <a:ext cx="203823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OpenClaw Inference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5654" y="5286970"/>
            <a:ext cx="4764881" cy="38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Request routed via 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highlight>
                  <a:srgbClr val="F2F0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CrewAI LLM(model=...)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using shared 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highlight>
                  <a:srgbClr val="F2F0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LLM_PROVIDER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config.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5654" y="5873472"/>
            <a:ext cx="143113" cy="178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5654" y="6101477"/>
            <a:ext cx="4764881" cy="1524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20" name="Text 18"/>
          <p:cNvSpPr/>
          <p:nvPr/>
        </p:nvSpPr>
        <p:spPr>
          <a:xfrm>
            <a:off x="2375654" y="6203513"/>
            <a:ext cx="178962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Parse + Emit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75654" y="6517481"/>
            <a:ext cx="4764881" cy="37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Structured or free-form output drives contact prioritization, messaging, or relationship updates — then propagates downstream.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7485" y="2074069"/>
            <a:ext cx="242839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OpenClaw Powers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97485" y="2399228"/>
            <a:ext cx="2337197" cy="1399461"/>
          </a:xfrm>
          <a:prstGeom prst="roundRect">
            <a:avLst>
              <a:gd name="adj" fmla="val 4297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48218" y="2549962"/>
            <a:ext cx="2035731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🧠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Contact Prioritization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48218" y="3087529"/>
            <a:ext cx="2035731" cy="560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Engagement scoring and routing logic generated per conversation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25050" y="2399228"/>
            <a:ext cx="2337316" cy="1399461"/>
          </a:xfrm>
          <a:prstGeom prst="roundRect">
            <a:avLst>
              <a:gd name="adj" fmla="val 4297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75783" y="2549962"/>
            <a:ext cx="2035850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✍️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Personalized Messaging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75783" y="3087529"/>
            <a:ext cx="2035850" cy="37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Dynamic message copy tailored to contact context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7485" y="3889058"/>
            <a:ext cx="4764881" cy="802243"/>
          </a:xfrm>
          <a:prstGeom prst="roundRect">
            <a:avLst>
              <a:gd name="adj" fmla="val 7496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8218" y="4039791"/>
            <a:ext cx="302156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📋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Content &amp; Script Generation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48218" y="4353758"/>
            <a:ext cx="4463415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Agent-authored follow-up scripts and interaction sequences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825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End-to-End Inference Loop with OpenClaw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694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/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https://youtu.be/qtVW4goCNnk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6874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30554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Every inference call is traceable end-to-end — from the raw WhatsApp message to the final database update — enabling complete auditability across the automation loop for relationship management.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7573" y="1554718"/>
            <a:ext cx="7198638" cy="524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Real-Time Observability Built In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87573" y="2389942"/>
            <a:ext cx="2153364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You Can See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87573" y="2776418"/>
            <a:ext cx="3779639" cy="199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Live SSE stream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feeds dashboard updates as events occur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ReactFlow graph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shows coordinator, agents, and active contacts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Agent activity log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captures status, action, timing, and correlation IDs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Swarm state snapshots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support replay and troubleshooting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84407" y="2389942"/>
            <a:ext cx="2098715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It Matters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784407" y="2792016"/>
            <a:ext cx="3779639" cy="1009174"/>
          </a:xfrm>
          <a:prstGeom prst="roundRect">
            <a:avLst>
              <a:gd name="adj" fmla="val 6988"/>
            </a:avLst>
          </a:prstGeom>
          <a:solidFill>
            <a:srgbClr val="FFFDE6"/>
          </a:solidFill>
          <a:ln w="2286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75146" y="2982754"/>
            <a:ext cx="2344936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🔍</a:t>
            </a:r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Faster Debugging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975146" y="3376851"/>
            <a:ext cx="3398163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Pinpoint failures in the event chain instantly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84407" y="3925372"/>
            <a:ext cx="3779639" cy="1242774"/>
          </a:xfrm>
          <a:prstGeom prst="roundRect">
            <a:avLst>
              <a:gd name="adj" fmla="val 5674"/>
            </a:avLst>
          </a:prstGeom>
          <a:solidFill>
            <a:srgbClr val="FFFDE6"/>
          </a:solidFill>
          <a:ln w="2286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75146" y="4116110"/>
            <a:ext cx="209871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🤝</a:t>
            </a:r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Better Trust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975146" y="4510207"/>
            <a:ext cx="3398163" cy="467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Teams can verify follow-up automation behavior without reading logs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84407" y="5292328"/>
            <a:ext cx="3779639" cy="1242774"/>
          </a:xfrm>
          <a:prstGeom prst="roundRect">
            <a:avLst>
              <a:gd name="adj" fmla="val 5674"/>
            </a:avLst>
          </a:prstGeom>
          <a:solidFill>
            <a:srgbClr val="FFFDE6"/>
          </a:solidFill>
          <a:ln w="22860">
            <a:solidFill>
              <a:srgbClr val="C3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75146" y="5483066"/>
            <a:ext cx="209871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🔄</a:t>
            </a:r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Easier Handoff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975146" y="5877163"/>
            <a:ext cx="3398163" cy="467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Engineering and ops share a single source of truth for relationship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468" y="949523"/>
            <a:ext cx="7796212" cy="618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KPIs, Roadmap &amp; Next Steps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92468" y="1999178"/>
            <a:ext cx="247340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Target KPIs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643" y="2508587"/>
            <a:ext cx="296704" cy="2967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5405" y="2502456"/>
            <a:ext cx="323040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First-Response Latency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335405" y="2984063"/>
            <a:ext cx="5738455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Target: under 10 seconds from inbound message to automated action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643" y="3928050"/>
            <a:ext cx="296704" cy="2967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5405" y="3921919"/>
            <a:ext cx="4099917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Prioritization Completion Rate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335405" y="4403527"/>
            <a:ext cx="5738455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Percentage of contacts categorized without human intervention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643" y="5051167"/>
            <a:ext cx="296704" cy="2967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5405" y="5045035"/>
            <a:ext cx="4436745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Engagement-to-Resolution Rate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335405" y="5526643"/>
            <a:ext cx="5738455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Managed contacts advancing to successful resolution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92468" y="6017181"/>
            <a:ext cx="6381393" cy="1068705"/>
          </a:xfrm>
          <a:prstGeom prst="roundRect">
            <a:avLst>
              <a:gd name="adj" fmla="val 7777"/>
            </a:avLst>
          </a:prstGeom>
          <a:solidFill>
            <a:srgbClr val="CCE5D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230" y="6281738"/>
            <a:ext cx="247293" cy="1977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35286" y="6239113"/>
            <a:ext cx="5540812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Impact goal: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Increase follow-up completion rate while reducing manual effort per contact.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564160" y="1999178"/>
            <a:ext cx="247340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Roadmap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10743367" y="2502456"/>
            <a:ext cx="22860" cy="3219569"/>
          </a:xfrm>
          <a:prstGeom prst="roundRect">
            <a:avLst>
              <a:gd name="adj" fmla="val 363557"/>
            </a:avLst>
          </a:prstGeom>
          <a:solidFill>
            <a:srgbClr val="C3D4CC"/>
          </a:solidFill>
          <a:ln/>
        </p:spPr>
      </p:sp>
      <p:sp>
        <p:nvSpPr>
          <p:cNvPr id="18" name="Shape 12"/>
          <p:cNvSpPr/>
          <p:nvPr/>
        </p:nvSpPr>
        <p:spPr>
          <a:xfrm>
            <a:off x="9961543" y="2713553"/>
            <a:ext cx="593527" cy="22860"/>
          </a:xfrm>
          <a:prstGeom prst="roundRect">
            <a:avLst>
              <a:gd name="adj" fmla="val 363557"/>
            </a:avLst>
          </a:prstGeom>
          <a:solidFill>
            <a:srgbClr val="C3D4CC"/>
          </a:solidFill>
          <a:ln/>
        </p:spPr>
      </p:sp>
      <p:sp>
        <p:nvSpPr>
          <p:cNvPr id="19" name="Shape 13"/>
          <p:cNvSpPr/>
          <p:nvPr/>
        </p:nvSpPr>
        <p:spPr>
          <a:xfrm>
            <a:off x="10532209" y="2502456"/>
            <a:ext cx="445175" cy="445175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0606385" y="2539484"/>
            <a:ext cx="296704" cy="37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300" dirty="0"/>
          </a:p>
        </p:txBody>
      </p:sp>
      <p:sp>
        <p:nvSpPr>
          <p:cNvPr id="21" name="Text 15"/>
          <p:cNvSpPr/>
          <p:nvPr/>
        </p:nvSpPr>
        <p:spPr>
          <a:xfrm>
            <a:off x="7564160" y="2570440"/>
            <a:ext cx="2201347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0–30 Days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7564160" y="3052048"/>
            <a:ext cx="2201347" cy="148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Harden OpenClaw retry/fallback · Improve SSE stream granularity · Richer ReactFlow drill-down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10954524" y="3850124"/>
            <a:ext cx="593527" cy="22860"/>
          </a:xfrm>
          <a:prstGeom prst="roundRect">
            <a:avLst>
              <a:gd name="adj" fmla="val 363557"/>
            </a:avLst>
          </a:prstGeom>
          <a:solidFill>
            <a:srgbClr val="C3D4CC"/>
          </a:solidFill>
          <a:ln/>
        </p:spPr>
      </p:sp>
      <p:sp>
        <p:nvSpPr>
          <p:cNvPr id="24" name="Shape 18"/>
          <p:cNvSpPr/>
          <p:nvPr/>
        </p:nvSpPr>
        <p:spPr>
          <a:xfrm>
            <a:off x="10532209" y="3639026"/>
            <a:ext cx="445175" cy="445175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606385" y="3676055"/>
            <a:ext cx="296704" cy="37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300" dirty="0"/>
          </a:p>
        </p:txBody>
      </p:sp>
      <p:sp>
        <p:nvSpPr>
          <p:cNvPr id="26" name="Text 20"/>
          <p:cNvSpPr/>
          <p:nvPr/>
        </p:nvSpPr>
        <p:spPr>
          <a:xfrm>
            <a:off x="11744087" y="3707011"/>
            <a:ext cx="2201466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30–90 Days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11744087" y="4188619"/>
            <a:ext cx="2201466" cy="148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Multi-provider routing policy · Automated prompt QA · Advanced follow-up workflow automation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8866" y="887373"/>
            <a:ext cx="3652957" cy="40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NextHello Wins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448866" y="1396841"/>
            <a:ext cx="8246269" cy="1133237"/>
          </a:xfrm>
          <a:prstGeom prst="roundRect">
            <a:avLst>
              <a:gd name="adj" fmla="val 475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4716" y="1532692"/>
            <a:ext cx="384691" cy="384691"/>
          </a:xfrm>
          <a:prstGeom prst="roundRect">
            <a:avLst>
              <a:gd name="adj" fmla="val 23767350"/>
            </a:avLst>
          </a:prstGeom>
          <a:solidFill>
            <a:srgbClr val="22443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443" y="1638419"/>
            <a:ext cx="173117" cy="1731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16" y="1989892"/>
            <a:ext cx="2175867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Real-Time Orchestration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84716" y="2233732"/>
            <a:ext cx="7974568" cy="160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Multi-agent swarm reacts in seconds, not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48866" y="2602587"/>
            <a:ext cx="8246269" cy="1133237"/>
          </a:xfrm>
          <a:prstGeom prst="roundRect">
            <a:avLst>
              <a:gd name="adj" fmla="val 475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4716" y="2738437"/>
            <a:ext cx="384691" cy="384691"/>
          </a:xfrm>
          <a:prstGeom prst="roundRect">
            <a:avLst>
              <a:gd name="adj" fmla="val 23767350"/>
            </a:avLst>
          </a:prstGeom>
          <a:solidFill>
            <a:srgbClr val="22443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443" y="2844165"/>
            <a:ext cx="173117" cy="17311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4716" y="3195638"/>
            <a:ext cx="1603177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Full Observability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84716" y="3439478"/>
            <a:ext cx="7974568" cy="160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Every action logged, visualized, and replayable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48866" y="3808333"/>
            <a:ext cx="8246269" cy="1133237"/>
          </a:xfrm>
          <a:prstGeom prst="roundRect">
            <a:avLst>
              <a:gd name="adj" fmla="val 475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84716" y="3944183"/>
            <a:ext cx="384691" cy="384691"/>
          </a:xfrm>
          <a:prstGeom prst="roundRect">
            <a:avLst>
              <a:gd name="adj" fmla="val 23767350"/>
            </a:avLst>
          </a:prstGeom>
          <a:solidFill>
            <a:srgbClr val="22443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0443" y="4049911"/>
            <a:ext cx="173117" cy="1731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4716" y="4401383"/>
            <a:ext cx="1994773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OpenClaw Intelligence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84716" y="4645223"/>
            <a:ext cx="7974568" cy="160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Centralized LLM layer — swap models without rewriting logic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48866" y="5014079"/>
            <a:ext cx="8246269" cy="1133237"/>
          </a:xfrm>
          <a:prstGeom prst="roundRect">
            <a:avLst>
              <a:gd name="adj" fmla="val 475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84716" y="5149929"/>
            <a:ext cx="384691" cy="384691"/>
          </a:xfrm>
          <a:prstGeom prst="roundRect">
            <a:avLst>
              <a:gd name="adj" fmla="val 23767350"/>
            </a:avLst>
          </a:prstGeom>
          <a:solidFill>
            <a:srgbClr val="22443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0443" y="5255657"/>
            <a:ext cx="173117" cy="17311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84716" y="5607129"/>
            <a:ext cx="2019062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Measurable Outcomes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584716" y="5850969"/>
            <a:ext cx="7974568" cy="160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Follow-up completion rate up, manual effort per contact down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48866" y="6292966"/>
            <a:ext cx="8246269" cy="23574"/>
          </a:xfrm>
          <a:prstGeom prst="rect">
            <a:avLst/>
          </a:prstGeom>
          <a:solidFill>
            <a:srgbClr val="3B4E4E">
              <a:alpha val="50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448866" y="6398062"/>
            <a:ext cx="8246269" cy="944166"/>
          </a:xfrm>
          <a:prstGeom prst="roundRect">
            <a:avLst>
              <a:gd name="adj" fmla="val 5705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486" y="6405682"/>
            <a:ext cx="4115514" cy="464463"/>
          </a:xfrm>
          <a:prstGeom prst="roundRect">
            <a:avLst>
              <a:gd name="adj" fmla="val 11598"/>
            </a:avLst>
          </a:prstGeom>
          <a:solidFill>
            <a:srgbClr val="DDEEE6"/>
          </a:solidFill>
          <a:ln/>
        </p:spPr>
      </p:sp>
      <p:sp>
        <p:nvSpPr>
          <p:cNvPr id="27" name="Text 20"/>
          <p:cNvSpPr/>
          <p:nvPr/>
        </p:nvSpPr>
        <p:spPr>
          <a:xfrm>
            <a:off x="584716" y="6533912"/>
            <a:ext cx="2003822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✅</a:t>
            </a:r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Approve Pilot Scope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572000" y="6405682"/>
            <a:ext cx="4115514" cy="464463"/>
          </a:xfrm>
          <a:prstGeom prst="rect">
            <a:avLst/>
          </a:prstGeom>
          <a:solidFill>
            <a:srgbClr val="DDEEE6"/>
          </a:solidFill>
          <a:ln/>
        </p:spPr>
      </p:sp>
      <p:sp>
        <p:nvSpPr>
          <p:cNvPr id="29" name="Shape 22"/>
          <p:cNvSpPr/>
          <p:nvPr/>
        </p:nvSpPr>
        <p:spPr>
          <a:xfrm>
            <a:off x="4572000" y="6405682"/>
            <a:ext cx="15240" cy="464463"/>
          </a:xfrm>
          <a:prstGeom prst="roundRect">
            <a:avLst>
              <a:gd name="adj" fmla="val 353469"/>
            </a:avLst>
          </a:prstGeom>
          <a:solidFill>
            <a:srgbClr val="C3D4CC"/>
          </a:solidFill>
          <a:ln/>
        </p:spPr>
      </p:sp>
      <p:sp>
        <p:nvSpPr>
          <p:cNvPr id="30" name="Text 23"/>
          <p:cNvSpPr/>
          <p:nvPr/>
        </p:nvSpPr>
        <p:spPr>
          <a:xfrm>
            <a:off x="4700230" y="6533912"/>
            <a:ext cx="1950601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📊</a:t>
            </a:r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Define KPI Baseline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456486" y="6870144"/>
            <a:ext cx="8231029" cy="464463"/>
          </a:xfrm>
          <a:prstGeom prst="rect">
            <a:avLst/>
          </a:prstGeom>
          <a:solidFill>
            <a:srgbClr val="DDEEE6"/>
          </a:solidFill>
          <a:ln/>
        </p:spPr>
      </p:sp>
      <p:sp>
        <p:nvSpPr>
          <p:cNvPr id="32" name="Shape 25"/>
          <p:cNvSpPr/>
          <p:nvPr/>
        </p:nvSpPr>
        <p:spPr>
          <a:xfrm>
            <a:off x="456486" y="6870144"/>
            <a:ext cx="8231029" cy="15240"/>
          </a:xfrm>
          <a:prstGeom prst="roundRect">
            <a:avLst>
              <a:gd name="adj" fmla="val 353469"/>
            </a:avLst>
          </a:prstGeom>
          <a:solidFill>
            <a:srgbClr val="C3D4CC"/>
          </a:solidFill>
          <a:ln/>
        </p:spPr>
      </p:sp>
      <p:sp>
        <p:nvSpPr>
          <p:cNvPr id="33" name="Text 26"/>
          <p:cNvSpPr/>
          <p:nvPr/>
        </p:nvSpPr>
        <p:spPr>
          <a:xfrm>
            <a:off x="584716" y="6998375"/>
            <a:ext cx="2278618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🚀</a:t>
            </a:r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Launch Phased Rollout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523" y="31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779502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Explore the architecture, contribute, or deploy your own instance of NextHello.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02449" y="1035963"/>
            <a:ext cx="3555563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b="1" u="sng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https://github.com/askmikeai/next-hello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49" y="1666637"/>
            <a:ext cx="3555563" cy="35415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42334" y="1030248"/>
            <a:ext cx="399311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821216" y="1223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Stay in Touch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242334" y="1634014"/>
            <a:ext cx="399311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280" y="1833801"/>
            <a:ext cx="2943106" cy="28466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42334" y="4744164"/>
            <a:ext cx="3993118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402449" y="5335548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181011" y="555664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endParaRPr lang="en-US" sz="1750" dirty="0"/>
          </a:p>
        </p:txBody>
      </p:sp>
      <p:pic>
        <p:nvPicPr>
          <p:cNvPr id="13" name="Image 2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5925145"/>
            <a:ext cx="1017151" cy="3118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02449" y="6357359"/>
            <a:ext cx="7825502" cy="21788"/>
          </a:xfrm>
          <a:prstGeom prst="rect">
            <a:avLst/>
          </a:prstGeom>
          <a:solidFill>
            <a:srgbClr val="3B4E4E">
              <a:alpha val="5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3402449" y="6442829"/>
            <a:ext cx="3884414" cy="985957"/>
          </a:xfrm>
          <a:prstGeom prst="roundRect">
            <a:avLst>
              <a:gd name="adj" fmla="val 4831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523417" y="6563797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22443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7000" y="6657380"/>
            <a:ext cx="152995" cy="1529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23417" y="696063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Phone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523417" y="7171730"/>
            <a:ext cx="36424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305 427 7457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343537" y="6442829"/>
            <a:ext cx="3884414" cy="985957"/>
          </a:xfrm>
          <a:prstGeom prst="roundRect">
            <a:avLst>
              <a:gd name="adj" fmla="val 4831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64504" y="6563797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22443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58088" y="6657380"/>
            <a:ext cx="152995" cy="1529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64504" y="696063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Email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464504" y="7171730"/>
            <a:ext cx="36424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askmikeai@gmail.com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3402449" y="7492484"/>
            <a:ext cx="3884414" cy="985957"/>
          </a:xfrm>
          <a:prstGeom prst="roundRect">
            <a:avLst>
              <a:gd name="adj" fmla="val 4831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523417" y="761345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224435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17000" y="7707035"/>
            <a:ext cx="152995" cy="15299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23417" y="801028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X (Twitter)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3523417" y="8221385"/>
            <a:ext cx="36424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u="sng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@askmikeai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7343537" y="7492484"/>
            <a:ext cx="3884414" cy="985957"/>
          </a:xfrm>
          <a:prstGeom prst="roundRect">
            <a:avLst>
              <a:gd name="adj" fmla="val 4831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464504" y="761345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224435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58088" y="7707035"/>
            <a:ext cx="152995" cy="15299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464504" y="801028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7464504" y="8221385"/>
            <a:ext cx="36424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u="sng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@askmikeai</a:t>
            </a:r>
            <a:endParaRPr lang="en-US" sz="850" dirty="0"/>
          </a:p>
        </p:txBody>
      </p:sp>
      <p:sp>
        <p:nvSpPr>
          <p:cNvPr id="35" name="Shape 26"/>
          <p:cNvSpPr/>
          <p:nvPr/>
        </p:nvSpPr>
        <p:spPr>
          <a:xfrm>
            <a:off x="3402449" y="8535114"/>
            <a:ext cx="7825502" cy="985957"/>
          </a:xfrm>
          <a:prstGeom prst="roundRect">
            <a:avLst>
              <a:gd name="adj" fmla="val 4831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3523417" y="865608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224435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17000" y="8749665"/>
            <a:ext cx="152995" cy="15299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523417" y="905291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TikTok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3523417" y="9264015"/>
            <a:ext cx="758356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u="sng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@askmikeai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2026-03-10T21:51:54Z</dcterms:created>
  <dcterms:modified xsi:type="dcterms:W3CDTF">2026-03-10T21:51:54Z</dcterms:modified>
</cp:coreProperties>
</file>